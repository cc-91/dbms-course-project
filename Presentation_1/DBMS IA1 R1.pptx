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Nyutro Sans" charset="1" panose="00000000000000000000"/>
      <p:regular r:id="rId18"/>
    </p:embeddedFont>
    <p:embeddedFont>
      <p:font typeface="Sego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28064" y="5377270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08719" y="7786423"/>
            <a:ext cx="16230600" cy="4037362"/>
          </a:xfrm>
          <a:custGeom>
            <a:avLst/>
            <a:gdLst/>
            <a:ahLst/>
            <a:cxnLst/>
            <a:rect r="r" b="b" t="t" l="l"/>
            <a:pathLst>
              <a:path h="4037362" w="16230600">
                <a:moveTo>
                  <a:pt x="0" y="0"/>
                </a:moveTo>
                <a:lnTo>
                  <a:pt x="16230600" y="0"/>
                </a:lnTo>
                <a:lnTo>
                  <a:pt x="16230600" y="4037362"/>
                </a:lnTo>
                <a:lnTo>
                  <a:pt x="0" y="4037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269592" y="-227049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2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2" y="5120628"/>
                </a:lnTo>
                <a:lnTo>
                  <a:pt x="4262922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886816" y="7624498"/>
            <a:ext cx="3915876" cy="147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By: M S Chethana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25WU0102142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9023" y="3717830"/>
            <a:ext cx="15189954" cy="2256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1"/>
              </a:lnSpc>
            </a:pPr>
            <a:r>
              <a:rPr lang="en-US" sz="4294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Design and Implementation of a database management system for Research Project, Publication and Grant Management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55439" y="1869715"/>
            <a:ext cx="4777121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DBMS Assignment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19885" y="3723973"/>
            <a:ext cx="14448230" cy="416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1"/>
              </a:lnSpc>
            </a:pPr>
            <a:r>
              <a:rPr lang="en-US" sz="31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Research-related information is often maintained across separate files and systems.</a:t>
            </a:r>
          </a:p>
          <a:p>
            <a:pPr algn="l" marL="669291" indent="-334646" lvl="1">
              <a:lnSpc>
                <a:spcPts val="4681"/>
              </a:lnSpc>
              <a:buFont typeface="Arial"/>
              <a:buChar char="•"/>
            </a:pPr>
            <a:r>
              <a:rPr lang="en-US" sz="31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No single view of overall project progress</a:t>
            </a:r>
          </a:p>
          <a:p>
            <a:pPr algn="l" marL="669291" indent="-334646" lvl="1">
              <a:lnSpc>
                <a:spcPts val="4681"/>
              </a:lnSpc>
              <a:buFont typeface="Arial"/>
              <a:buChar char="•"/>
            </a:pPr>
            <a:r>
              <a:rPr lang="en-US" sz="31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Grant and funding details may be scattered across records.</a:t>
            </a:r>
          </a:p>
          <a:p>
            <a:pPr algn="l" marL="669291" indent="-334646" lvl="1">
              <a:lnSpc>
                <a:spcPts val="4681"/>
              </a:lnSpc>
              <a:buFont typeface="Arial"/>
              <a:buChar char="•"/>
            </a:pPr>
            <a:r>
              <a:rPr lang="en-US" sz="31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Project milestones and expenditure are difficult to track.</a:t>
            </a:r>
          </a:p>
          <a:p>
            <a:pPr algn="l" marL="669291" indent="-334646" lvl="1">
              <a:lnSpc>
                <a:spcPts val="4681"/>
              </a:lnSpc>
              <a:buFont typeface="Arial"/>
              <a:buChar char="•"/>
            </a:pPr>
            <a:r>
              <a:rPr lang="en-US" sz="31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Manual data management can lead to duplication, inconsistency and missing information.</a:t>
            </a:r>
          </a:p>
          <a:p>
            <a:pPr algn="ctr">
              <a:lnSpc>
                <a:spcPts val="468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539196" y="1758399"/>
            <a:ext cx="9209608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4F2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921618" y="4634838"/>
            <a:ext cx="10444764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0"/>
              </a:lnSpc>
            </a:pPr>
            <a:r>
              <a:rPr lang="en-US" sz="30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A cent</a:t>
            </a:r>
            <a:r>
              <a:rPr lang="en-US" sz="30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ralized relational database system that connects researchers, projects, funding, milestones, expenditure and research outputs.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81301" y="1992731"/>
            <a:ext cx="10525399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Proposed solution to the problem statement.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4F2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105092" y="3274415"/>
            <a:ext cx="12077816" cy="4488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4" indent="-280672" lvl="1">
              <a:lnSpc>
                <a:spcPts val="3926"/>
              </a:lnSpc>
              <a:buFont typeface="Arial"/>
              <a:buChar char="•"/>
            </a:pPr>
            <a:r>
              <a:rPr lang="en-US" sz="26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Cent</a:t>
            </a:r>
            <a:r>
              <a:rPr lang="en-US" sz="26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ralize research project-related information.</a:t>
            </a:r>
          </a:p>
          <a:p>
            <a:pPr algn="just" marL="561344" indent="-280672" lvl="1">
              <a:lnSpc>
                <a:spcPts val="3926"/>
              </a:lnSpc>
              <a:buFont typeface="Arial"/>
              <a:buChar char="•"/>
            </a:pPr>
            <a:r>
              <a:rPr lang="en-US" sz="26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Maintain researcher and department records.</a:t>
            </a:r>
          </a:p>
          <a:p>
            <a:pPr algn="just" marL="561344" indent="-280672" lvl="1">
              <a:lnSpc>
                <a:spcPts val="3926"/>
              </a:lnSpc>
              <a:buFont typeface="Arial"/>
              <a:buChar char="•"/>
            </a:pPr>
            <a:r>
              <a:rPr lang="en-US" sz="26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Manage projects and investigator assignments.</a:t>
            </a:r>
          </a:p>
          <a:p>
            <a:pPr algn="just" marL="561344" indent="-280672" lvl="1">
              <a:lnSpc>
                <a:spcPts val="3926"/>
              </a:lnSpc>
              <a:buFont typeface="Arial"/>
              <a:buChar char="•"/>
            </a:pPr>
            <a:r>
              <a:rPr lang="en-US" sz="26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Track grants, funding agencies and budgets.</a:t>
            </a:r>
          </a:p>
          <a:p>
            <a:pPr algn="just" marL="561344" indent="-280672" lvl="1">
              <a:lnSpc>
                <a:spcPts val="3926"/>
              </a:lnSpc>
              <a:buFont typeface="Arial"/>
              <a:buChar char="•"/>
            </a:pPr>
            <a:r>
              <a:rPr lang="en-US" sz="26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Monitor project milestones and expenditure.</a:t>
            </a:r>
          </a:p>
          <a:p>
            <a:pPr algn="just" marL="561344" indent="-280672" lvl="1">
              <a:lnSpc>
                <a:spcPts val="3926"/>
              </a:lnSpc>
              <a:buFont typeface="Arial"/>
              <a:buChar char="•"/>
            </a:pPr>
            <a:r>
              <a:rPr lang="en-US" sz="26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Link projects with publications and patents.</a:t>
            </a:r>
          </a:p>
          <a:p>
            <a:pPr algn="just" marL="561344" indent="-280672" lvl="1">
              <a:lnSpc>
                <a:spcPts val="3926"/>
              </a:lnSpc>
              <a:buFont typeface="Arial"/>
              <a:buChar char="•"/>
            </a:pPr>
            <a:r>
              <a:rPr lang="en-US" sz="26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Generate meaningful research and funding reports.</a:t>
            </a:r>
          </a:p>
          <a:p>
            <a:pPr algn="just" marL="561344" indent="-280672" lvl="1">
              <a:lnSpc>
                <a:spcPts val="3926"/>
              </a:lnSpc>
              <a:buFont typeface="Arial"/>
              <a:buChar char="•"/>
            </a:pPr>
            <a:r>
              <a:rPr lang="en-US" sz="26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Maintain data integrity and consistency through relational database design.</a:t>
            </a:r>
          </a:p>
          <a:p>
            <a:pPr algn="just">
              <a:lnSpc>
                <a:spcPts val="392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539196" y="1644359"/>
            <a:ext cx="9209608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Project Objectives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4F2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893600" y="4162144"/>
            <a:ext cx="2423101" cy="981356"/>
          </a:xfrm>
          <a:custGeom>
            <a:avLst/>
            <a:gdLst/>
            <a:ahLst/>
            <a:cxnLst/>
            <a:rect r="r" b="b" t="t" l="l"/>
            <a:pathLst>
              <a:path h="981356" w="2423101">
                <a:moveTo>
                  <a:pt x="0" y="0"/>
                </a:moveTo>
                <a:lnTo>
                  <a:pt x="2423101" y="0"/>
                </a:lnTo>
                <a:lnTo>
                  <a:pt x="2423101" y="981356"/>
                </a:lnTo>
                <a:lnTo>
                  <a:pt x="0" y="9813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39196" y="1746791"/>
            <a:ext cx="9209608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Scope of the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13876" y="3186350"/>
            <a:ext cx="12860247" cy="62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1"/>
              </a:lnSpc>
            </a:pPr>
            <a:r>
              <a:rPr lang="en-US" sz="31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The database will cover the complete research management lifecycle: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012510" y="4162144"/>
            <a:ext cx="2423101" cy="981356"/>
          </a:xfrm>
          <a:custGeom>
            <a:avLst/>
            <a:gdLst/>
            <a:ahLst/>
            <a:cxnLst/>
            <a:rect r="r" b="b" t="t" l="l"/>
            <a:pathLst>
              <a:path h="981356" w="2423101">
                <a:moveTo>
                  <a:pt x="0" y="0"/>
                </a:moveTo>
                <a:lnTo>
                  <a:pt x="2423102" y="0"/>
                </a:lnTo>
                <a:lnTo>
                  <a:pt x="2423102" y="981356"/>
                </a:lnTo>
                <a:lnTo>
                  <a:pt x="0" y="9813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934451" y="4162144"/>
            <a:ext cx="2423101" cy="981356"/>
          </a:xfrm>
          <a:custGeom>
            <a:avLst/>
            <a:gdLst/>
            <a:ahLst/>
            <a:cxnLst/>
            <a:rect r="r" b="b" t="t" l="l"/>
            <a:pathLst>
              <a:path h="981356" w="2423101">
                <a:moveTo>
                  <a:pt x="0" y="0"/>
                </a:moveTo>
                <a:lnTo>
                  <a:pt x="2423101" y="0"/>
                </a:lnTo>
                <a:lnTo>
                  <a:pt x="2423101" y="981356"/>
                </a:lnTo>
                <a:lnTo>
                  <a:pt x="0" y="9813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052877" y="5495925"/>
            <a:ext cx="2423101" cy="981356"/>
          </a:xfrm>
          <a:custGeom>
            <a:avLst/>
            <a:gdLst/>
            <a:ahLst/>
            <a:cxnLst/>
            <a:rect r="r" b="b" t="t" l="l"/>
            <a:pathLst>
              <a:path h="981356" w="2423101">
                <a:moveTo>
                  <a:pt x="0" y="0"/>
                </a:moveTo>
                <a:lnTo>
                  <a:pt x="2423102" y="0"/>
                </a:lnTo>
                <a:lnTo>
                  <a:pt x="2423102" y="981356"/>
                </a:lnTo>
                <a:lnTo>
                  <a:pt x="0" y="9813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052877" y="4162144"/>
            <a:ext cx="2423101" cy="981356"/>
          </a:xfrm>
          <a:custGeom>
            <a:avLst/>
            <a:gdLst/>
            <a:ahLst/>
            <a:cxnLst/>
            <a:rect r="r" b="b" t="t" l="l"/>
            <a:pathLst>
              <a:path h="981356" w="2423101">
                <a:moveTo>
                  <a:pt x="0" y="0"/>
                </a:moveTo>
                <a:lnTo>
                  <a:pt x="2423102" y="0"/>
                </a:lnTo>
                <a:lnTo>
                  <a:pt x="2423102" y="981356"/>
                </a:lnTo>
                <a:lnTo>
                  <a:pt x="0" y="9813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052877" y="6883926"/>
            <a:ext cx="2423101" cy="981356"/>
          </a:xfrm>
          <a:custGeom>
            <a:avLst/>
            <a:gdLst/>
            <a:ahLst/>
            <a:cxnLst/>
            <a:rect r="r" b="b" t="t" l="l"/>
            <a:pathLst>
              <a:path h="981356" w="2423101">
                <a:moveTo>
                  <a:pt x="0" y="0"/>
                </a:moveTo>
                <a:lnTo>
                  <a:pt x="2423102" y="0"/>
                </a:lnTo>
                <a:lnTo>
                  <a:pt x="2423102" y="981356"/>
                </a:lnTo>
                <a:lnTo>
                  <a:pt x="0" y="9813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052877" y="8145747"/>
            <a:ext cx="2423101" cy="981356"/>
          </a:xfrm>
          <a:custGeom>
            <a:avLst/>
            <a:gdLst/>
            <a:ahLst/>
            <a:cxnLst/>
            <a:rect r="r" b="b" t="t" l="l"/>
            <a:pathLst>
              <a:path h="981356" w="2423101">
                <a:moveTo>
                  <a:pt x="0" y="0"/>
                </a:moveTo>
                <a:lnTo>
                  <a:pt x="2423102" y="0"/>
                </a:lnTo>
                <a:lnTo>
                  <a:pt x="2423102" y="981356"/>
                </a:lnTo>
                <a:lnTo>
                  <a:pt x="0" y="9813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079568" y="4266171"/>
            <a:ext cx="2051164" cy="62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1"/>
              </a:lnSpc>
            </a:pPr>
            <a:r>
              <a:rPr lang="en-US" sz="31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researchers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98479" y="4266171"/>
            <a:ext cx="2051164" cy="62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1"/>
              </a:lnSpc>
            </a:pPr>
            <a:r>
              <a:rPr lang="en-US" sz="31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projects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34686" y="4299743"/>
            <a:ext cx="2218628" cy="62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1"/>
              </a:lnSpc>
            </a:pPr>
            <a:r>
              <a:rPr lang="en-US" sz="31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departments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55114" y="4074763"/>
            <a:ext cx="2218628" cy="1089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8"/>
              </a:lnSpc>
            </a:pPr>
            <a:r>
              <a:rPr lang="en-US" sz="28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grant agencies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55114" y="5599952"/>
            <a:ext cx="2218628" cy="62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1"/>
              </a:lnSpc>
            </a:pPr>
            <a:r>
              <a:rPr lang="en-US" sz="31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milestones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55114" y="6831298"/>
            <a:ext cx="2218628" cy="95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4"/>
              </a:lnSpc>
            </a:pPr>
            <a:r>
              <a:rPr lang="en-US" sz="24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publications/</a:t>
            </a:r>
          </a:p>
          <a:p>
            <a:pPr algn="ctr">
              <a:lnSpc>
                <a:spcPts val="3624"/>
              </a:lnSpc>
            </a:pPr>
            <a:r>
              <a:rPr lang="en-US" sz="24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patent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155114" y="8249774"/>
            <a:ext cx="2218628" cy="62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1"/>
              </a:lnSpc>
            </a:pPr>
            <a:r>
              <a:rPr lang="en-US" sz="31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reports</a:t>
            </a:r>
          </a:p>
        </p:txBody>
      </p:sp>
      <p:sp>
        <p:nvSpPr>
          <p:cNvPr name="AutoShape 26" id="26"/>
          <p:cNvSpPr/>
          <p:nvPr/>
        </p:nvSpPr>
        <p:spPr>
          <a:xfrm>
            <a:off x="4316701" y="4652822"/>
            <a:ext cx="631863" cy="14841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7" id="27"/>
          <p:cNvSpPr/>
          <p:nvPr/>
        </p:nvSpPr>
        <p:spPr>
          <a:xfrm flipV="true">
            <a:off x="7435612" y="4476461"/>
            <a:ext cx="522948" cy="1763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8" id="28"/>
          <p:cNvSpPr/>
          <p:nvPr/>
        </p:nvSpPr>
        <p:spPr>
          <a:xfrm flipV="true">
            <a:off x="10357552" y="4620002"/>
            <a:ext cx="719917" cy="3282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9" id="29"/>
          <p:cNvSpPr/>
          <p:nvPr/>
        </p:nvSpPr>
        <p:spPr>
          <a:xfrm>
            <a:off x="12264428" y="5143500"/>
            <a:ext cx="71770" cy="47204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0" id="30"/>
          <p:cNvSpPr/>
          <p:nvPr/>
        </p:nvSpPr>
        <p:spPr>
          <a:xfrm>
            <a:off x="12264428" y="6518864"/>
            <a:ext cx="0" cy="3650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1" id="31"/>
          <p:cNvSpPr/>
          <p:nvPr/>
        </p:nvSpPr>
        <p:spPr>
          <a:xfrm>
            <a:off x="12264428" y="7822984"/>
            <a:ext cx="0" cy="3650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4F2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928616" y="3200579"/>
            <a:ext cx="12430767" cy="534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289" indent="-334645" lvl="1">
              <a:lnSpc>
                <a:spcPts val="4680"/>
              </a:lnSpc>
              <a:buFont typeface="Arial"/>
              <a:buChar char="•"/>
            </a:pPr>
            <a:r>
              <a:rPr lang="en-US" sz="30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Register and maintain researcher, department and project details.</a:t>
            </a:r>
          </a:p>
          <a:p>
            <a:pPr algn="just" marL="669289" indent="-334645" lvl="1">
              <a:lnSpc>
                <a:spcPts val="4680"/>
              </a:lnSpc>
              <a:buFont typeface="Arial"/>
              <a:buChar char="•"/>
            </a:pPr>
            <a:r>
              <a:rPr lang="en-US" sz="30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Assign investigators to r</a:t>
            </a:r>
            <a:r>
              <a:rPr lang="en-US" sz="30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esearch projects.</a:t>
            </a:r>
          </a:p>
          <a:p>
            <a:pPr algn="just" marL="669289" indent="-334645" lvl="1">
              <a:lnSpc>
                <a:spcPts val="4680"/>
              </a:lnSpc>
              <a:buFont typeface="Arial"/>
              <a:buChar char="•"/>
            </a:pPr>
            <a:r>
              <a:rPr lang="en-US" sz="30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Manage funding agencies, grants and project budgets.</a:t>
            </a:r>
          </a:p>
          <a:p>
            <a:pPr algn="just" marL="669289" indent="-334645" lvl="1">
              <a:lnSpc>
                <a:spcPts val="4680"/>
              </a:lnSpc>
              <a:buFont typeface="Arial"/>
              <a:buChar char="•"/>
            </a:pPr>
            <a:r>
              <a:rPr lang="en-US" sz="30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Track project milestones and completion status.</a:t>
            </a:r>
          </a:p>
          <a:p>
            <a:pPr algn="just" marL="669289" indent="-334645" lvl="1">
              <a:lnSpc>
                <a:spcPts val="4680"/>
              </a:lnSpc>
              <a:buFont typeface="Arial"/>
              <a:buChar char="•"/>
            </a:pPr>
            <a:r>
              <a:rPr lang="en-US" sz="30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Record and monitor project expenditure and budget utilization.</a:t>
            </a:r>
          </a:p>
          <a:p>
            <a:pPr algn="just" marL="669289" indent="-334645" lvl="1">
              <a:lnSpc>
                <a:spcPts val="4680"/>
              </a:lnSpc>
              <a:buFont typeface="Arial"/>
              <a:buChar char="•"/>
            </a:pPr>
            <a:r>
              <a:rPr lang="en-US" sz="30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Manage research publications, patents and reports.</a:t>
            </a:r>
          </a:p>
          <a:p>
            <a:pPr algn="just" marL="669289" indent="-334645" lvl="1">
              <a:lnSpc>
                <a:spcPts val="4680"/>
              </a:lnSpc>
              <a:buFont typeface="Arial"/>
              <a:buChar char="•"/>
            </a:pPr>
            <a:r>
              <a:rPr lang="en-US" sz="30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Retrieve research information and generate project, funding and research-output reports.</a:t>
            </a:r>
          </a:p>
          <a:p>
            <a:pPr algn="just">
              <a:lnSpc>
                <a:spcPts val="468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539196" y="1746791"/>
            <a:ext cx="9209608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Scope of the Project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4F2"/>
            </a:solidFill>
            <a:ln w="19050" cap="sq">
              <a:solidFill>
                <a:srgbClr val="6D869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085268" y="2788191"/>
            <a:ext cx="11239241" cy="632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30"/>
              </a:lnSpc>
            </a:pPr>
            <a:r>
              <a:rPr lang="en-US" sz="30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1. Researcher</a:t>
            </a:r>
          </a:p>
          <a:p>
            <a:pPr algn="just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View assigned projects</a:t>
            </a:r>
          </a:p>
          <a:p>
            <a:pPr algn="just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Track project milestones</a:t>
            </a:r>
          </a:p>
          <a:p>
            <a:pPr algn="just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Edit </a:t>
            </a:r>
            <a:r>
              <a:rPr lang="en-US" sz="30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research outputs &amp; Access publication information</a:t>
            </a:r>
          </a:p>
          <a:p>
            <a:pPr algn="just">
              <a:lnSpc>
                <a:spcPts val="4530"/>
              </a:lnSpc>
            </a:pPr>
            <a:r>
              <a:rPr lang="en-US" sz="30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2. Administrator</a:t>
            </a:r>
          </a:p>
          <a:p>
            <a:pPr algn="just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Register projects and researchers</a:t>
            </a:r>
          </a:p>
          <a:p>
            <a:pPr algn="just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Assign investigators</a:t>
            </a:r>
          </a:p>
          <a:p>
            <a:pPr algn="just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Manage grants and funding</a:t>
            </a:r>
          </a:p>
          <a:p>
            <a:pPr algn="just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Record milestones &amp; Generate reports</a:t>
            </a:r>
          </a:p>
          <a:p>
            <a:pPr algn="just">
              <a:lnSpc>
                <a:spcPts val="4530"/>
              </a:lnSpc>
            </a:pPr>
            <a:r>
              <a:rPr lang="en-US" sz="30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3. Department</a:t>
            </a:r>
          </a:p>
          <a:p>
            <a:pPr algn="l" marL="647700" indent="-323850" lvl="1">
              <a:lnSpc>
                <a:spcPts val="4530"/>
              </a:lnSpc>
              <a:buFont typeface="Arial"/>
              <a:buChar char="•"/>
            </a:pPr>
            <a:r>
              <a:rPr lang="en-US" sz="30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Monitor, Track and Review the research outputs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39196" y="1746791"/>
            <a:ext cx="9209608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System Users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22399" y="2143225"/>
            <a:ext cx="12643201" cy="6732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32"/>
              </a:lnSpc>
            </a:pP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Th</a:t>
            </a: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e system should allow authorized users to:</a:t>
            </a:r>
          </a:p>
          <a:p>
            <a:pPr algn="just" marL="690881" indent="-345440" lvl="1">
              <a:lnSpc>
                <a:spcPts val="4832"/>
              </a:lnSpc>
              <a:buFont typeface="Arial"/>
              <a:buChar char="•"/>
            </a:pP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Register researchers and departments</a:t>
            </a:r>
          </a:p>
          <a:p>
            <a:pPr algn="just" marL="690881" indent="-345440" lvl="1">
              <a:lnSpc>
                <a:spcPts val="4832"/>
              </a:lnSpc>
              <a:buFont typeface="Arial"/>
              <a:buChar char="•"/>
            </a:pP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Create and manage research projects</a:t>
            </a:r>
          </a:p>
          <a:p>
            <a:pPr algn="just" marL="690881" indent="-345440" lvl="1">
              <a:lnSpc>
                <a:spcPts val="4832"/>
              </a:lnSpc>
              <a:buFont typeface="Arial"/>
              <a:buChar char="•"/>
            </a:pP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Assign investigators to projects</a:t>
            </a:r>
          </a:p>
          <a:p>
            <a:pPr algn="just" marL="690881" indent="-345440" lvl="1">
              <a:lnSpc>
                <a:spcPts val="4832"/>
              </a:lnSpc>
              <a:buFont typeface="Arial"/>
              <a:buChar char="•"/>
            </a:pP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Register funding agencies</a:t>
            </a:r>
          </a:p>
          <a:p>
            <a:pPr algn="just" marL="690881" indent="-345440" lvl="1">
              <a:lnSpc>
                <a:spcPts val="4832"/>
              </a:lnSpc>
              <a:buFont typeface="Arial"/>
              <a:buChar char="•"/>
            </a:pP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Record grants and project budgets</a:t>
            </a:r>
          </a:p>
          <a:p>
            <a:pPr algn="just" marL="690881" indent="-345440" lvl="1">
              <a:lnSpc>
                <a:spcPts val="4832"/>
              </a:lnSpc>
              <a:buFont typeface="Arial"/>
              <a:buChar char="•"/>
            </a:pP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Define and track milestones</a:t>
            </a:r>
          </a:p>
          <a:p>
            <a:pPr algn="just" marL="690881" indent="-345440" lvl="1">
              <a:lnSpc>
                <a:spcPts val="4832"/>
              </a:lnSpc>
              <a:buFont typeface="Arial"/>
              <a:buChar char="•"/>
            </a:pP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Record project expenditure</a:t>
            </a:r>
          </a:p>
          <a:p>
            <a:pPr algn="just" marL="690881" indent="-345440" lvl="1">
              <a:lnSpc>
                <a:spcPts val="4832"/>
              </a:lnSpc>
              <a:buFont typeface="Arial"/>
              <a:buChar char="•"/>
            </a:pP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Link publications to projects</a:t>
            </a:r>
          </a:p>
          <a:p>
            <a:pPr algn="just" marL="690881" indent="-345440" lvl="1">
              <a:lnSpc>
                <a:spcPts val="4832"/>
              </a:lnSpc>
              <a:buFont typeface="Arial"/>
              <a:buChar char="•"/>
            </a:pP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Maintain patent information</a:t>
            </a:r>
          </a:p>
          <a:p>
            <a:pPr algn="just" marL="690881" indent="-345440" lvl="1">
              <a:lnSpc>
                <a:spcPts val="4832"/>
              </a:lnSpc>
              <a:buFont typeface="Arial"/>
              <a:buChar char="•"/>
            </a:pPr>
            <a:r>
              <a:rPr lang="en-US" sz="32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Generate research and funding reports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58177" y="614789"/>
            <a:ext cx="11571645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Functional Requirements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00275" y="1028700"/>
            <a:ext cx="13887450" cy="9258300"/>
          </a:xfrm>
          <a:custGeom>
            <a:avLst/>
            <a:gdLst/>
            <a:ahLst/>
            <a:cxnLst/>
            <a:rect r="r" b="b" t="t" l="l"/>
            <a:pathLst>
              <a:path h="9258300" w="13887450">
                <a:moveTo>
                  <a:pt x="0" y="0"/>
                </a:moveTo>
                <a:lnTo>
                  <a:pt x="13887450" y="0"/>
                </a:lnTo>
                <a:lnTo>
                  <a:pt x="1388745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1063" y="-133350"/>
            <a:ext cx="12720104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Conceptual ER Diagram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672300"/>
            <a:ext cx="16230600" cy="4942401"/>
          </a:xfrm>
          <a:custGeom>
            <a:avLst/>
            <a:gdLst/>
            <a:ahLst/>
            <a:cxnLst/>
            <a:rect r="r" b="b" t="t" l="l"/>
            <a:pathLst>
              <a:path h="4942401" w="16230600">
                <a:moveTo>
                  <a:pt x="0" y="0"/>
                </a:moveTo>
                <a:lnTo>
                  <a:pt x="16230600" y="0"/>
                </a:lnTo>
                <a:lnTo>
                  <a:pt x="16230600" y="4942400"/>
                </a:lnTo>
                <a:lnTo>
                  <a:pt x="0" y="4942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58177" y="614789"/>
            <a:ext cx="11571645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Relational Schema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-3306107" y="569411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7603204" y="0"/>
                </a:moveTo>
                <a:lnTo>
                  <a:pt x="0" y="0"/>
                </a:lnTo>
                <a:lnTo>
                  <a:pt x="0" y="1891297"/>
                </a:lnTo>
                <a:lnTo>
                  <a:pt x="7603204" y="1891297"/>
                </a:lnTo>
                <a:lnTo>
                  <a:pt x="760320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0153" y="-4342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0"/>
                </a:moveTo>
                <a:lnTo>
                  <a:pt x="4262923" y="0"/>
                </a:lnTo>
                <a:lnTo>
                  <a:pt x="4262923" y="5120627"/>
                </a:lnTo>
                <a:lnTo>
                  <a:pt x="0" y="512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3994907" y="2627353"/>
            <a:ext cx="7603204" cy="1891297"/>
          </a:xfrm>
          <a:custGeom>
            <a:avLst/>
            <a:gdLst/>
            <a:ahLst/>
            <a:cxnLst/>
            <a:rect r="r" b="b" t="t" l="l"/>
            <a:pathLst>
              <a:path h="1891297" w="7603204">
                <a:moveTo>
                  <a:pt x="0" y="1891297"/>
                </a:moveTo>
                <a:lnTo>
                  <a:pt x="7603203" y="1891297"/>
                </a:lnTo>
                <a:lnTo>
                  <a:pt x="7603203" y="0"/>
                </a:lnTo>
                <a:lnTo>
                  <a:pt x="0" y="0"/>
                </a:lnTo>
                <a:lnTo>
                  <a:pt x="0" y="189129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324509" y="5585433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5120628"/>
                </a:moveTo>
                <a:lnTo>
                  <a:pt x="0" y="5120628"/>
                </a:lnTo>
                <a:lnTo>
                  <a:pt x="0" y="0"/>
                </a:lnTo>
                <a:lnTo>
                  <a:pt x="4262923" y="0"/>
                </a:lnTo>
                <a:lnTo>
                  <a:pt x="4262923" y="512062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75096" y="2420687"/>
            <a:ext cx="11137808" cy="6329492"/>
          </a:xfrm>
          <a:custGeom>
            <a:avLst/>
            <a:gdLst/>
            <a:ahLst/>
            <a:cxnLst/>
            <a:rect r="r" b="b" t="t" l="l"/>
            <a:pathLst>
              <a:path h="6329492" w="11137808">
                <a:moveTo>
                  <a:pt x="0" y="0"/>
                </a:moveTo>
                <a:lnTo>
                  <a:pt x="11137808" y="0"/>
                </a:lnTo>
                <a:lnTo>
                  <a:pt x="11137808" y="6329492"/>
                </a:lnTo>
                <a:lnTo>
                  <a:pt x="0" y="6329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39196" y="583031"/>
            <a:ext cx="9209608" cy="1387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Main Entities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28064" y="5377270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08719" y="7786423"/>
            <a:ext cx="16230600" cy="4037362"/>
          </a:xfrm>
          <a:custGeom>
            <a:avLst/>
            <a:gdLst/>
            <a:ahLst/>
            <a:cxnLst/>
            <a:rect r="r" b="b" t="t" l="l"/>
            <a:pathLst>
              <a:path h="4037362" w="16230600">
                <a:moveTo>
                  <a:pt x="0" y="0"/>
                </a:moveTo>
                <a:lnTo>
                  <a:pt x="16230600" y="0"/>
                </a:lnTo>
                <a:lnTo>
                  <a:pt x="16230600" y="4037362"/>
                </a:lnTo>
                <a:lnTo>
                  <a:pt x="0" y="4037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2905706" y="-1561569"/>
            <a:ext cx="16230600" cy="4037362"/>
          </a:xfrm>
          <a:custGeom>
            <a:avLst/>
            <a:gdLst/>
            <a:ahLst/>
            <a:cxnLst/>
            <a:rect r="r" b="b" t="t" l="l"/>
            <a:pathLst>
              <a:path h="4037362" w="16230600">
                <a:moveTo>
                  <a:pt x="0" y="0"/>
                </a:moveTo>
                <a:lnTo>
                  <a:pt x="16230600" y="0"/>
                </a:lnTo>
                <a:lnTo>
                  <a:pt x="16230600" y="4037361"/>
                </a:lnTo>
                <a:lnTo>
                  <a:pt x="0" y="4037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260813" y="-84522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9346" y="3453911"/>
            <a:ext cx="14149309" cy="3036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96"/>
              </a:lnSpc>
            </a:pPr>
            <a:r>
              <a:rPr lang="en-US" sz="17711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Thank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48072" y="9890125"/>
            <a:ext cx="4288234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(review 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DAHTXFqI-ic</dc:identifier>
  <dcterms:modified xsi:type="dcterms:W3CDTF">2011-08-01T06:04:30Z</dcterms:modified>
  <cp:revision>1</cp:revision>
  <dc:title>DBMS IA1 R1</dc:title>
</cp:coreProperties>
</file>